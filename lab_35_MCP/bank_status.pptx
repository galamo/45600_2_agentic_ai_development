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Clients by city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0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Tel Aviv</c:v>
                  </c:pt>
                  <c:pt idx="1">
                    <c:v>Haifa</c:v>
                  </c:pt>
                  <c:pt idx="2">
                    <c:v>Nazareth</c:v>
                  </c:pt>
                  <c:pt idx="3">
                    <c:v>San Francisco</c:v>
                  </c:pt>
                  <c:pt idx="4">
                    <c:v>London</c:v>
                  </c:pt>
                  <c:pt idx="5">
                    <c:v>Berlin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A607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0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Accounts by type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6C8AC4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Checking (5)</c:v>
                </c:pt>
                <c:pt idx="1">
                  <c:v>Savings (3)</c:v>
                </c:pt>
                <c:pt idx="2">
                  <c:v>Credit (1)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A607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short deck covers who our customers are, what accounts they hold, how much money we hold, and where the risk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clients, one per city. Israel leads with three. Two of six are suspended or inactive, which is a high share for a book this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Checking is over half the book. Only three clients hold savings, and we have a single credit product outstanding. At 1.5 accounts per client there is clear room to cross-sell.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USD is our largest currency exposure, driven by one large savings account. Two accounts are overdrawn but within limits. The frozen and closed accounts both belong to non-active clients — worth reviewing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2743200" cy="274320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STATUS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Account Portfolio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four-part briefing on our client base, account mix, balances and risk exposure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clients   |   9 accounts   |   4 currencies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Serve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clients across four countries — small, concentrated, internationally spread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9A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9AA3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52044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9A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34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 / inactive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12700" dir="5400000">
              <a:srgbClr val="9AA3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09828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(IL, US, GB, DE)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" y="3794760"/>
          <a:ext cx="5852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858000" y="3794760"/>
            <a:ext cx="4663440" cy="2651760"/>
          </a:xfrm>
          <a:prstGeom prst="roundRect">
            <a:avLst>
              <a:gd name="adj" fmla="val 4138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132320" y="44348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city holds more than one client — the base is fully dispersed.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 is our largest market with 3 of 6 clients.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clients is not currently active — a retention concern at this size.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Account Book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accounts, dominated by day-to-day checking relationships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87452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6537960" y="1984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78240" y="1984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accounts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37960" y="23500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the book — the primary relationship product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310896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3218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778240" y="32186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accounts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37960" y="35844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by 3 different clients; the deposit base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43434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4453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778240" y="4453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account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37960" y="48188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credit line, $10k limit, 24% utilised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557784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57424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accounts per client — cross-sell headroom is real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&amp; Risk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balances sit, and what needs attention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2B3A7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149,910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accounts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2B3A7A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965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3317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113,720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29000" y="3063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accounts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2B3A7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965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3317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24,101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3063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account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182880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2B3A7A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1965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06840" y="23317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006840" y="3063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account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balances held, by currency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10881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3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accounts in negative balance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212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-1,230 ILS and -2,411 USD, both inside agreed limits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056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frozen account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80560" y="5212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Okafor (suspended client) — 512 GBP, none available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closed account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5212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Farid Haddad, closed May 2023 — client now inactive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2026-08-10T14:57:24Z</dcterms:created>
  <dcterms:modified xsi:type="dcterms:W3CDTF">2026-08-10T14:57:24Z</dcterms:modified>
</cp:coreProperties>
</file>